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9"/>
  </p:normalViewPr>
  <p:slideViewPr>
    <p:cSldViewPr snapToGrid="0" snapToObjects="1">
      <p:cViewPr varScale="1">
        <p:scale>
          <a:sx n="103" d="100"/>
          <a:sy n="103" d="100"/>
        </p:scale>
        <p:origin x="80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Qolabb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B6A37C"/>
                </a:solidFill>
              </a:defRPr>
            </a:pPr>
            <a:r>
              <a:t>Fair and Engaging Teamwork in Student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FFFFFF"/>
                </a:solidFill>
              </a:defRPr>
            </a:pPr>
            <a:r>
              <a:t>By Terry Ekoe Aziaba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12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6A37C"/>
                </a:solidFill>
              </a:defRPr>
            </a:pPr>
            <a:r>
              <a:t>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Initial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2A43"/>
                </a:solidFill>
              </a:defRPr>
            </a:pPr>
            <a:r>
              <a:t>Problem: Uneven participation in student team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02A43"/>
                </a:solidFill>
              </a:defRPr>
            </a:pPr>
            <a:r>
              <a:t>• Some students do most of the work</a:t>
            </a:r>
          </a:p>
          <a:p>
            <a:pPr>
              <a:spcAft>
                <a:spcPts val="1200"/>
              </a:spcAft>
              <a:defRPr sz="2200">
                <a:solidFill>
                  <a:srgbClr val="102A43"/>
                </a:solidFill>
              </a:defRPr>
            </a:pPr>
            <a:r>
              <a:t>• Others contribute very little</a:t>
            </a:r>
          </a:p>
          <a:p>
            <a:pPr>
              <a:spcAft>
                <a:spcPts val="1200"/>
              </a:spcAft>
              <a:defRPr sz="2200">
                <a:solidFill>
                  <a:srgbClr val="102A43"/>
                </a:solidFill>
              </a:defRPr>
            </a:pPr>
            <a:r>
              <a:t>• Leads to frustration and unfair grading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4E68"/>
                </a:solidFill>
              </a:defRPr>
            </a:pPr>
            <a:r>
              <a:t>Goal: Build a data-driven platform to make teamwork transparent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Development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4E68"/>
                </a:solidFill>
              </a:defRPr>
            </a:pPr>
            <a:r>
              <a:t>1. Domain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8288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02A43"/>
                </a:solidFill>
              </a:defRPr>
            </a:pPr>
            <a:r>
              <a:t>Researched collaboration challenges (5 academic sources)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4E68"/>
                </a:solidFill>
              </a:defRPr>
            </a:pPr>
            <a:r>
              <a:t>2. Data 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9260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02A43"/>
                </a:solidFill>
              </a:defRPr>
            </a:pPr>
            <a:r>
              <a:t>Built datasets on team participation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4E68"/>
                </a:solidFill>
              </a:defRPr>
            </a:pPr>
            <a:r>
              <a:t>3.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02336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02A43"/>
                </a:solidFill>
              </a:defRPr>
            </a:pPr>
            <a:r>
              <a:t>Identified key problems (13% free-riders, 43% unequal teams)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4E68"/>
                </a:solidFill>
              </a:defRPr>
            </a:pPr>
            <a:r>
              <a:t>4. Web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120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02A43"/>
                </a:solidFill>
              </a:defRPr>
            </a:pPr>
            <a:r>
              <a:t>Built Qolabb with Next.js + Supabase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572000" cy="1645920"/>
          </a:xfrm>
          <a:prstGeom prst="roundRect">
            <a:avLst/>
          </a:prstGeom>
          <a:solidFill>
            <a:srgbClr val="F5F5F5"/>
          </a:solidFill>
          <a:ln>
            <a:solidFill>
              <a:srgbClr val="B6A3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233172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4E68"/>
                </a:solidFill>
              </a:defRPr>
            </a:pPr>
            <a:r>
              <a:t>Task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88036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2A43"/>
                </a:solidFill>
              </a:defRPr>
            </a:pPr>
            <a:r>
              <a:t>Log and track team contributions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4572000" cy="1645920"/>
          </a:xfrm>
          <a:prstGeom prst="roundRect">
            <a:avLst/>
          </a:prstGeom>
          <a:solidFill>
            <a:srgbClr val="F5F5F5"/>
          </a:solidFill>
          <a:ln>
            <a:solidFill>
              <a:srgbClr val="B6A3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233172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4E68"/>
                </a:solidFill>
              </a:defRPr>
            </a:pPr>
            <a:r>
              <a:t>Workload 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88036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2A43"/>
                </a:solidFill>
              </a:defRPr>
            </a:pPr>
            <a:r>
              <a:t>Real-time view of who's doing what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114800"/>
            <a:ext cx="4572000" cy="1645920"/>
          </a:xfrm>
          <a:prstGeom prst="roundRect">
            <a:avLst/>
          </a:prstGeom>
          <a:solidFill>
            <a:srgbClr val="F5F5F5"/>
          </a:solidFill>
          <a:ln>
            <a:solidFill>
              <a:srgbClr val="B6A3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443484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4E68"/>
                </a:solidFill>
              </a:defRPr>
            </a:pPr>
            <a:r>
              <a:t>Instructor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98348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2A43"/>
                </a:solidFill>
              </a:defRPr>
            </a:pPr>
            <a:r>
              <a:t>Data-driven grading 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114800"/>
            <a:ext cx="4572000" cy="1645920"/>
          </a:xfrm>
          <a:prstGeom prst="roundRect">
            <a:avLst/>
          </a:prstGeom>
          <a:solidFill>
            <a:srgbClr val="F5F5F5"/>
          </a:solidFill>
          <a:ln>
            <a:solidFill>
              <a:srgbClr val="B6A3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443484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4E68"/>
                </a:solidFill>
              </a:defRPr>
            </a:pPr>
            <a:r>
              <a:t>Peer Evaluations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98348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2A43"/>
                </a:solidFill>
              </a:defRPr>
            </a:pPr>
            <a:r>
              <a:t>Built-in accountability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Data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6A37C"/>
                </a:solidFill>
              </a:defRPr>
            </a:pPr>
            <a:r>
              <a:t>What the analysis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02A43"/>
                </a:solidFill>
              </a:defRPr>
            </a:pPr>
            <a:r>
              <a:t>Free-riders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3774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4E68"/>
                </a:solidFill>
              </a:defRPr>
            </a:pPr>
            <a:r>
              <a:t>13% of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02A43"/>
                </a:solidFill>
              </a:defRPr>
            </a:pPr>
            <a:r>
              <a:t>Work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2918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4E68"/>
                </a:solidFill>
              </a:defRPr>
            </a:pPr>
            <a:r>
              <a:t>5x between high and low contributors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02A43"/>
                </a:solidFill>
              </a:defRPr>
            </a:pPr>
            <a:r>
              <a:t>Team inequality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2062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4E68"/>
                </a:solidFill>
              </a:defRPr>
            </a:pPr>
            <a:r>
              <a:t>43% of teams affected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02A43"/>
                </a:solidFill>
              </a:defRPr>
            </a:pPr>
            <a:r>
              <a:t>Peer perception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1206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4E68"/>
                </a:solidFill>
              </a:defRPr>
            </a:pPr>
            <a:r>
              <a:t>Low rated 2.9/5 vs High 4.4/5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Learnings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4E68"/>
                </a:solidFill>
              </a:defRPr>
            </a:pPr>
            <a:r>
              <a:t>What I learned: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02A43"/>
                </a:solidFill>
              </a:defRPr>
            </a:pPr>
            <a:r>
              <a:t>• Data science validates real problems</a:t>
            </a:r>
          </a:p>
          <a:p>
            <a:pPr>
              <a:spcAft>
                <a:spcPts val="800"/>
              </a:spcAft>
              <a:defRPr sz="1800">
                <a:solidFill>
                  <a:srgbClr val="102A43"/>
                </a:solidFill>
              </a:defRPr>
            </a:pPr>
            <a:r>
              <a:t>• Web apps can drive behavior change</a:t>
            </a:r>
          </a:p>
          <a:p>
            <a:pPr>
              <a:spcAft>
                <a:spcPts val="800"/>
              </a:spcAft>
              <a:defRPr sz="1800">
                <a:solidFill>
                  <a:srgbClr val="102A43"/>
                </a:solidFill>
              </a:defRPr>
            </a:pPr>
            <a:r>
              <a:t>• Transparency encourages accountability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4E68"/>
                </a:solidFill>
              </a:defRPr>
            </a:pPr>
            <a:r>
              <a:t>Next steps: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19456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02A43"/>
                </a:solidFill>
              </a:defRPr>
            </a:pPr>
            <a:r>
              <a:t>• User testing with real teams</a:t>
            </a:r>
          </a:p>
          <a:p>
            <a:pPr>
              <a:spcAft>
                <a:spcPts val="800"/>
              </a:spcAft>
              <a:defRPr sz="1800">
                <a:solidFill>
                  <a:srgbClr val="102A43"/>
                </a:solidFill>
              </a:defRPr>
            </a:pPr>
            <a:r>
              <a:t>• LMS integration (Moodle, Canvas)</a:t>
            </a:r>
          </a:p>
          <a:p>
            <a:pPr>
              <a:spcAft>
                <a:spcPts val="800"/>
              </a:spcAft>
              <a:defRPr sz="1800">
                <a:solidFill>
                  <a:srgbClr val="102A43"/>
                </a:solidFill>
              </a:defRPr>
            </a:pPr>
            <a:r>
              <a:t>• Mobile app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i="1">
                <a:solidFill>
                  <a:srgbClr val="B6A37C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02A43"/>
                </a:solidFill>
              </a:defRPr>
            </a:pPr>
            <a:r>
              <a:t>1. Frontiers in Education (2020) - Team Health and Project Quality</a:t>
            </a:r>
          </a:p>
          <a:p>
            <a:pPr>
              <a:spcAft>
                <a:spcPts val="1400"/>
              </a:spcAft>
              <a:defRPr sz="1800">
                <a:solidFill>
                  <a:srgbClr val="102A43"/>
                </a:solidFill>
              </a:defRPr>
            </a:pPr>
            <a:r>
              <a:t>2. Springer (2023) - Online Group Projects in Higher Education</a:t>
            </a:r>
          </a:p>
          <a:p>
            <a:pPr>
              <a:spcAft>
                <a:spcPts val="1400"/>
              </a:spcAft>
              <a:defRPr sz="1800">
                <a:solidFill>
                  <a:srgbClr val="102A43"/>
                </a:solidFill>
              </a:defRPr>
            </a:pPr>
            <a:r>
              <a:t>3. MDPI Education Sciences (2022) - Learning Through Collaborative Data Projects</a:t>
            </a:r>
          </a:p>
          <a:p>
            <a:pPr>
              <a:spcAft>
                <a:spcPts val="1400"/>
              </a:spcAft>
              <a:defRPr sz="1800">
                <a:solidFill>
                  <a:srgbClr val="102A43"/>
                </a:solidFill>
              </a:defRPr>
            </a:pPr>
            <a:r>
              <a:t>4. MDPI Education Sciences (2020) - Characterizing Team Orientations</a:t>
            </a:r>
          </a:p>
          <a:p>
            <a:pPr>
              <a:spcAft>
                <a:spcPts val="1400"/>
              </a:spcAft>
              <a:defRPr sz="1800">
                <a:solidFill>
                  <a:srgbClr val="102A43"/>
                </a:solidFill>
              </a:defRPr>
            </a:pPr>
            <a:r>
              <a:t>5. arXiv (2020) - Student Teamwork on Programming Projects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282</Words>
  <Application>Microsoft Macintosh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Terry Ekoe Aziaba</cp:lastModifiedBy>
  <cp:revision>2</cp:revision>
  <dcterms:created xsi:type="dcterms:W3CDTF">2013-01-27T09:14:16Z</dcterms:created>
  <dcterms:modified xsi:type="dcterms:W3CDTF">2025-12-07T22:07:19Z</dcterms:modified>
  <cp:category/>
</cp:coreProperties>
</file>